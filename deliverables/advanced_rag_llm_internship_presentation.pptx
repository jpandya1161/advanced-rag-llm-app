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b13ad625a45c0" /><Relationship Type="http://schemas.openxmlformats.org/officeDocument/2006/relationships/extended-properties" Target="/docProps/app.xml" Id="R4660b1ecb13747ea" /><Relationship Type="http://schemas.openxmlformats.org/officeDocument/2006/relationships/officeDocument" Target="/ppt/presentation.xml" Id="R53beda794d814a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101f8eac384ccc"/>
  </p:sldMasterIdLst>
  <p:notesMasterIdLst>
    <p:notesMasterId xmlns:r="http://schemas.openxmlformats.org/officeDocument/2006/relationships" r:id="Rf0ce03993a7c4bb7"/>
  </p:notesMasterIdLst>
  <p:sldIdLst>
    <p:sldId xmlns:r="http://schemas.openxmlformats.org/officeDocument/2006/relationships" id="256" r:id="Re2375e1a423b4f78"/>
    <p:sldId xmlns:r="http://schemas.openxmlformats.org/officeDocument/2006/relationships" id="257" r:id="Ra868092d68634afa"/>
    <p:sldId xmlns:r="http://schemas.openxmlformats.org/officeDocument/2006/relationships" id="258" r:id="Re8aca0fd2d414cc5"/>
    <p:sldId xmlns:r="http://schemas.openxmlformats.org/officeDocument/2006/relationships" id="259" r:id="R6499d8adf4ad4c3b"/>
    <p:sldId xmlns:r="http://schemas.openxmlformats.org/officeDocument/2006/relationships" id="260" r:id="Rc4b6ab2c2a0746dc"/>
    <p:sldId xmlns:r="http://schemas.openxmlformats.org/officeDocument/2006/relationships" id="261" r:id="Ra5c9ab85565f4487"/>
    <p:sldId xmlns:r="http://schemas.openxmlformats.org/officeDocument/2006/relationships" id="262" r:id="Raf9f0e7b755c4820"/>
    <p:sldId xmlns:r="http://schemas.openxmlformats.org/officeDocument/2006/relationships" id="263" r:id="Rc62f062ad3c84ac2"/>
    <p:sldId xmlns:r="http://schemas.openxmlformats.org/officeDocument/2006/relationships" id="264" r:id="R1e503af766a34da7"/>
    <p:sldId xmlns:r="http://schemas.openxmlformats.org/officeDocument/2006/relationships" id="265" r:id="Rcf2a0a6e754c4f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a75339503946eb" /><Relationship Type="http://schemas.openxmlformats.org/officeDocument/2006/relationships/slideMaster" Target="/ppt/slideMasters/slideMaster1.xml" Id="R97101f8eac384ccc" /><Relationship Type="http://schemas.openxmlformats.org/officeDocument/2006/relationships/notesMaster" Target="/ppt/notesMasters/notesMaster1.xml" Id="Rf0ce03993a7c4bb7" /><Relationship Type="http://schemas.openxmlformats.org/officeDocument/2006/relationships/presProps" Target="/ppt/presProps.xml" Id="Rcd296a00603f4ed9" /><Relationship Type="http://schemas.openxmlformats.org/officeDocument/2006/relationships/tableStyles" Target="/ppt/tableStyles.xml" Id="Rcccce9145f9b4898" /><Relationship Type="http://schemas.openxmlformats.org/officeDocument/2006/relationships/slide" Target="/ppt/slides/slide1.xml" Id="Re2375e1a423b4f78" /><Relationship Type="http://schemas.openxmlformats.org/officeDocument/2006/relationships/slide" Target="/ppt/slides/slide2.xml" Id="Ra868092d68634afa" /><Relationship Type="http://schemas.openxmlformats.org/officeDocument/2006/relationships/slide" Target="/ppt/slides/slide3.xml" Id="Re8aca0fd2d414cc5" /><Relationship Type="http://schemas.openxmlformats.org/officeDocument/2006/relationships/slide" Target="/ppt/slides/slide4.xml" Id="R6499d8adf4ad4c3b" /><Relationship Type="http://schemas.openxmlformats.org/officeDocument/2006/relationships/slide" Target="/ppt/slides/slide5.xml" Id="Rc4b6ab2c2a0746dc" /><Relationship Type="http://schemas.openxmlformats.org/officeDocument/2006/relationships/slide" Target="/ppt/slides/slide6.xml" Id="Ra5c9ab85565f4487" /><Relationship Type="http://schemas.openxmlformats.org/officeDocument/2006/relationships/slide" Target="/ppt/slides/slide7.xml" Id="Raf9f0e7b755c4820" /><Relationship Type="http://schemas.openxmlformats.org/officeDocument/2006/relationships/slide" Target="/ppt/slides/slide8.xml" Id="Rc62f062ad3c84ac2" /><Relationship Type="http://schemas.openxmlformats.org/officeDocument/2006/relationships/slide" Target="/ppt/slides/slide9.xml" Id="R1e503af766a34da7" /><Relationship Type="http://schemas.openxmlformats.org/officeDocument/2006/relationships/slide" Target="/ppt/slides/slide10.xml" Id="Rcf2a0a6e754c4f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20d00a59dc4c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0da2fb1614896" /><Relationship Type="http://schemas.openxmlformats.org/officeDocument/2006/relationships/notesMaster" Target="/ppt/notesMasters/notesMaster1.xml" Id="Rd9dcd22fce8745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2c4093f7764fa0" /><Relationship Type="http://schemas.openxmlformats.org/officeDocument/2006/relationships/notesMaster" Target="/ppt/notesMasters/notesMaster1.xml" Id="R1a17b878afd74d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d44a9bc9984280" /><Relationship Type="http://schemas.openxmlformats.org/officeDocument/2006/relationships/notesMaster" Target="/ppt/notesMasters/notesMaster1.xml" Id="R61b384a190334a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f155f6255d4300" /><Relationship Type="http://schemas.openxmlformats.org/officeDocument/2006/relationships/notesMaster" Target="/ppt/notesMasters/notesMaster1.xml" Id="R66b19a8ca10143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43612651a94fb2" /><Relationship Type="http://schemas.openxmlformats.org/officeDocument/2006/relationships/notesMaster" Target="/ppt/notesMasters/notesMaster1.xml" Id="R69189fc9baac44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6efffc1a394324" /><Relationship Type="http://schemas.openxmlformats.org/officeDocument/2006/relationships/notesMaster" Target="/ppt/notesMasters/notesMaster1.xml" Id="Rd0d96608698946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00332e70704d44" /><Relationship Type="http://schemas.openxmlformats.org/officeDocument/2006/relationships/notesMaster" Target="/ppt/notesMasters/notesMaster1.xml" Id="R3cd9d58cdf304d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c8e4fad922405b" /><Relationship Type="http://schemas.openxmlformats.org/officeDocument/2006/relationships/notesMaster" Target="/ppt/notesMasters/notesMaster1.xml" Id="R8d8898c2370a4c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7f3580e9104405" /><Relationship Type="http://schemas.openxmlformats.org/officeDocument/2006/relationships/notesMaster" Target="/ppt/notesMasters/notesMaster1.xml" Id="R919d508749c140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da3be772724913" /><Relationship Type="http://schemas.openxmlformats.org/officeDocument/2006/relationships/notesMaster" Target="/ppt/notesMasters/notesMaster1.xml" Id="R452860903c8448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c61b5dc714c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be028afbb04566" /><Relationship Type="http://schemas.openxmlformats.org/officeDocument/2006/relationships/slideLayout" Target="/ppt/slideLayouts/slideLayout1.xml" Id="R705261a7e25c43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5261a7e25c43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422ff70ee4d1e" /><Relationship Type="http://schemas.openxmlformats.org/officeDocument/2006/relationships/notesSlide" Target="/ppt/notesSlides/notesSlide1.xml" Id="Re221948fd1e541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6942e9d794003" /><Relationship Type="http://schemas.openxmlformats.org/officeDocument/2006/relationships/notesSlide" Target="/ppt/notesSlides/notesSlide2.xml" Id="R6f102bf7faff4d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5fd2665a1411c" /><Relationship Type="http://schemas.openxmlformats.org/officeDocument/2006/relationships/image" Target="/ppt/media/image.png" Id="R8682e4cdbc354993" /><Relationship Type="http://schemas.openxmlformats.org/officeDocument/2006/relationships/notesSlide" Target="/ppt/notesSlides/notesSlide3.xml" Id="R1bc2b8a3a88b41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3536a6dca4e4c" /><Relationship Type="http://schemas.openxmlformats.org/officeDocument/2006/relationships/notesSlide" Target="/ppt/notesSlides/notesSlide4.xml" Id="R2e45a99e235145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4e58219884cce" /><Relationship Type="http://schemas.openxmlformats.org/officeDocument/2006/relationships/notesSlide" Target="/ppt/notesSlides/notesSlide5.xml" Id="Rf2b0d1d97c944b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d7f680a1940e6" /><Relationship Type="http://schemas.openxmlformats.org/officeDocument/2006/relationships/chart" Target="/ppt/slides/charts/chart1.xml" Id="R4735e75e61444196" /><Relationship Type="http://schemas.openxmlformats.org/officeDocument/2006/relationships/notesSlide" Target="/ppt/notesSlides/notesSlide6.xml" Id="Rf5338d956729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90af5306844e7" /><Relationship Type="http://schemas.openxmlformats.org/officeDocument/2006/relationships/notesSlide" Target="/ppt/notesSlides/notesSlide7.xml" Id="R5777a4fa484f48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99793b7194480" /><Relationship Type="http://schemas.openxmlformats.org/officeDocument/2006/relationships/notesSlide" Target="/ppt/notesSlides/notesSlide8.xml" Id="Rf095065f45214a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f5aa65bea4b54" /><Relationship Type="http://schemas.openxmlformats.org/officeDocument/2006/relationships/notesSlide" Target="/ppt/notesSlides/notesSlide9.xml" Id="Rcfbd93d7dd2448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82fc9620c4907" /><Relationship Type="http://schemas.openxmlformats.org/officeDocument/2006/relationships/notesSlide" Target="/ppt/notesSlides/notesSlide10.xml" Id="R1a0f5fcfdf36462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Combined score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3"/>
              <c:pt idx="0">
                <c:v>Vector-only</c:v>
              </c:pt>
              <c:pt idx="1">
                <c:v>Keyword-only</c:v>
              </c:pt>
              <c:pt idx="2">
                <c:v>Hybrid</c:v>
              </c:pt>
            </c:strLit>
          </c:cat>
          <c:val>
            <c:numLit>
              <c:formatCode>General</c:formatCode>
              <c:ptCount val="3"/>
              <c:pt idx="0">
                <c:v>0.8663</c:v>
              </c:pt>
              <c:pt idx="1">
                <c:v>0.829</c:v>
              </c:pt>
              <c:pt idx="2">
                <c:v>0.9126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9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33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D9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273"/>
                </a:solidFill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EE113-28C7-4E84-837B-23EED1F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SUMMER INTERNSHIP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D33D4-5765-4D96-9CE7-8E5F2645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667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Development of Advanced AI Applications using RAG and LLM APIs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D94A8-27CD-44BA-86DF-2A51FDF4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A grounded knowledge-assistant prototype with retrieval evaluation and configurable LLM APIs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E90D1-5847-42B1-B028-2A894A33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984BC-A4C9-477C-9655-1C8394A1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837A7-BB71-43EB-8AC6-30970813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retrieval</a:t>
            </a:r>
          </a:p>
          <a:p xmlns:a="http://schemas.openxmlformats.org/drawingml/2006/main">
            <a:pPr algn="ctr">
              <a:defRPr sz="15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+ evidence</a:t>
            </a:r>
          </a:p>
          <a:p xmlns:a="http://schemas.openxmlformats.org/drawingml/2006/main">
            <a:pPr algn="ctr">
              <a:defRPr sz="15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+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F5339-8349-4CD5-A3E6-7EED1BFF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Master's Summer Internship | July 2026</a:t>
            </a:r>
          </a:p>
        </p:txBody>
      </p:sp>
    </p:spTree>
    <p:extLst>
      <p:ext uri="{BB962C8B-B14F-4D97-AF65-F5344CB8AC3E}">
        <p14:creationId xmlns:p14="http://schemas.microsoft.com/office/powerpoint/2010/main" val="1699242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DFCBEC-1695-4A40-817E-B34B05C7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186FF-A619-4D99-B388-3BD9E69C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47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CF410-7332-46DB-A8E8-F1323DE9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LLMs need evidence, not just fluent 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79CD7-6C15-483C-90E8-4BFC45CF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The project makes source grounding, citation display, and insufficient-evidence refusal explicit parts of the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83849-BA50-4C0D-9372-7A2FBDE2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FB70E-2895-4CA5-AFDA-D7136A32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52625"/>
            <a:ext cx="53530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826E5-F353-4C96-8A0F-2A451002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Without 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61C93-3DD3-45B4-8922-16974A42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4B675-72AD-4C2C-BF4E-AB6F5E01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051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Stale or unsupported claims can sound credible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029B1-1450-479C-9EAA-9F3A5AD1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42464-41B0-4FE0-BF95-83FE271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Private documents are absent from model parameters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C0F2F-5DCF-420C-BFCF-954997A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C06FC-DBCA-413F-8E55-304C3D33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291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Users cannot inspect why an answer was given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DEA27-2DAA-4E8F-B49F-A58553FF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With this RAG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7F896-C050-49FA-9652-47F80B5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C37C6-56EB-4D72-A373-325A5D73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0512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Documents are chunked and retrieved at query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35EE9-F72A-4700-8262-682FDF4C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07548-23D7-4D7B-926E-FEDD61D3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6712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Answers show inline citations and source excerpts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EE723-52CA-4E46-AA69-1E510BF3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55BB1-9F02-4A7D-B292-B696C09F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2912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Weak evidence produces a transparent refusal</a:t>
            </a:r>
          </a:p>
        </p:txBody>
      </p:sp>
    </p:spTree>
    <p:extLst>
      <p:ext uri="{BB962C8B-B14F-4D97-AF65-F5344CB8AC3E}">
        <p14:creationId xmlns:p14="http://schemas.microsoft.com/office/powerpoint/2010/main" val="1742245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75700E-1295-473D-A8F0-C86453EB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9F376-91EF-4B4A-9E72-C2B02D12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47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E2067-31E1-4B9A-9FD9-491C799E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prototype is a working research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BA645-9837-457A-91B2-79180B70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Users ingest a corpus, ask a question, inspect evidence, and run the evaluation from one local interface.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CD3A9-62D5-4611-98B4-6E850A2A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247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2e4cdbc354993"/>
          <a:srcRect xmlns:a="http://schemas.openxmlformats.org/drawingml/2006/main" l="0" t="26116" r="0" b="26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905000"/>
            <a:ext cx="7334250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2DA0F-F6E1-402E-AF45-E604A863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User-facing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9E695-1064-4FDE-9963-40F78030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14389-0288-419C-ADC8-21DF3464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33675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Upload or load a document corpus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1C7E8-BB88-4963-B696-59643985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628D7-7C8B-41AC-B566-8C036531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52825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Ask grounded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43599-0F6E-4296-8B3D-0D666750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62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BE1B5-C9DA-435F-87A3-0650CFCF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71975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Inspect citations and latency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3A66B-AAE1-409E-A794-E54AFDFF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1065C-1185-410E-A259-B4612E76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91125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Run repeatable evaluation</a:t>
            </a:r>
          </a:p>
        </p:txBody>
      </p:sp>
    </p:spTree>
    <p:extLst>
      <p:ext uri="{BB962C8B-B14F-4D97-AF65-F5344CB8AC3E}">
        <p14:creationId xmlns:p14="http://schemas.microsoft.com/office/powerpoint/2010/main" val="1290185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8830F-C337-443D-9453-6B9EB1B3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4A59F-5603-415A-832F-354E85C1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47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F130B-57DE-4082-8268-915E9A62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Retrieval and generation stay independently testable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81914-CE55-4CE7-8F47-A918B2C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Persistent chunks and evidence diagnostics make each stage inspectable.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B41C0-DC5F-4F0A-B128-44BE1DEF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B3511-C5A3-4189-9D52-ED9FE43F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8B932-D9F1-4621-B329-313D5357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extract + normalize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0199B-2C00-4C52-AC17-E535E497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1239D-1129-4CDA-9471-8C7E96B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336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C1A18-2B6C-42AB-8A9E-C46FD3DE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D44E6-A7AE-4A81-9B07-B761BC69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hash embeddings + SQLite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A0C59-E35D-4038-B90C-7D79995C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CE228-6E0D-4733-9583-EEBB065F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336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A684C-F331-4E9D-9094-2DD5C1B6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C8CB8-3245-48E0-A831-33C7B5CB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099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vector + BM25 + RRF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1B86E-2C1B-4113-892A-912324F2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CA8E6-8927-4801-BF6A-0F18905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6F6F2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A74C6-9B85-406C-98EF-6CDAAA91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Evidence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723F4-4321-43EB-AC94-30AC4B2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099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answer or refuse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6E21D-7D54-4362-9672-639C9E89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362A8-A07C-46DF-9C85-C679E4E3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6D890-EAD8-447B-BF20-8A2A34A9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80B20-7DE5-4AC6-A30F-4DF757BC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99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offline, OpenAI, Ollama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AA046-9C04-4320-B307-561A8F48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Citation validation attaches retrieved source, chunk position, score, and excerpt to each accepted answer.</a:t>
            </a:r>
          </a:p>
        </p:txBody>
      </p:sp>
    </p:spTree>
    <p:extLst>
      <p:ext uri="{BB962C8B-B14F-4D97-AF65-F5344CB8AC3E}">
        <p14:creationId xmlns:p14="http://schemas.microsoft.com/office/powerpoint/2010/main" val="2077081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212E8-8E27-4EA9-B984-54229AA4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B78A8-E5AD-470C-964F-6B1A90D7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47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3202C-1C3E-4913-960B-5F2CB082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evaluation tests real retrieval failure 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B099E-7AA7-4DC1-8299-5D7769CC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41 labeled cases over 13 university AI research internship documents create a repeatable local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B980B-323B-4CD6-8DC3-EED5E701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2B67B-0B46-423D-BEBC-BEE7A0AE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007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total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247CB-C621-4D67-90D9-5B56734D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B877D-692B-4E94-89B1-2167B3E7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007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source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6BAE4-339F-41D3-910B-26413102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62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06E7B-085A-4AA6-B38D-49BAD38C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007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indexed chunks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0DE71-FCA0-4B0C-B7B6-A312A462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Scenario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18EA4-B0B8-4A82-B522-069CDA38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0716B-7E72-48E9-87F4-CCBAFC42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384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answerable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824FB-02E9-4529-8998-EF80956E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74CA3-84BB-46B4-A5C8-A16D3C2F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ambiguous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0E358-39C1-4381-B6C3-8C098E14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2F09C-765A-457E-8290-6E64DA46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conflicting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FAD53-C687-437D-85E0-3D649F5F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3D798-2CEC-482A-9504-E5A29519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unanswerable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63699-CC4B-496B-9170-BA00B8A1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4476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8CCB6-EEEA-4D08-B6C7-63EA7EC5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Answer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7891C-D4D1-44D8-B126-19041DEF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required-fact recall • citation/refusal coverage • latency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8303F-813D-4B9B-949D-C4E885D3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4476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FB3EC-83DE-485C-8448-050F713B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051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Retrieval evaluation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EDFC2B-7947-4908-94EE-7712012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9975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Recall@5 • MRR • nDCG@5 • abstention accuracy</a:t>
            </a:r>
          </a:p>
        </p:txBody>
      </p:sp>
    </p:spTree>
    <p:extLst>
      <p:ext uri="{BB962C8B-B14F-4D97-AF65-F5344CB8AC3E}">
        <p14:creationId xmlns:p14="http://schemas.microsoft.com/office/powerpoint/2010/main" val="283671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4FA8EA-FDA7-4779-891E-3F1EB7EC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211DB-6459-4F9B-BD99-EE64CA33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47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2F1DD-721F-4739-94AA-6E9E89DA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Hybrid retrieval wins the combined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6D535-E134-4C44-B008-ED0441C3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Keyword-only ranking leads pure retrieval, but hybrid wins once evidence-gate abstention is included.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657225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35e75e6144419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1C799-2E09-49B7-A1FC-79EE19C4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76450"/>
            <a:ext cx="3257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531CD-EFAE-41E0-84CA-A6660920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Hybrid combined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E3B68-6717-464A-8127-3B96F411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0.9126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7B49C-F73C-4440-8FB2-8D67AB8F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257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D5033-E3E4-4958-9BC4-0D4DAC24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80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Hybrid Recall@5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E37FD-F72C-4298-8178-3F7CF5C8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45FCF-C511-4D2F-8F21-B1039C4D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32575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CDCAD-A50F-4FF9-9BDD-EF73B238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Hybrid abstention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13EA0-13AC-4716-9072-4CBF2DEE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0.8000</a:t>
            </a:r>
          </a:p>
        </p:txBody>
      </p:sp>
    </p:spTree>
    <p:extLst>
      <p:ext uri="{BB962C8B-B14F-4D97-AF65-F5344CB8AC3E}">
        <p14:creationId xmlns:p14="http://schemas.microsoft.com/office/powerpoint/2010/main" val="30079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1BB697-A649-4537-954B-9415FFAD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9F040-D653-425F-9D0F-F234AB60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47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B0F28-BC4D-4FBE-A459-2FBA179D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Evidence gating preserves answerable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BD1D1-DC91-4536-AFC4-91BE3140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The hybrid threshold is configurable and must be revalidated on a held-out dataset.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04F17-80EB-4EDC-A0BC-DFC0FDC4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048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4CA72-26DF-43F5-BB50-44068CA5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0.8000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21E62-7702-4B34-A9F1-F7296F5C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unanswerable-refusal accuracy</a:t>
            </a:r>
          </a:p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4 of 5 unsupported requests refused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32D7C-29A4-4275-BD01-2578B1F0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5048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F07E1-BA80-426F-B899-2C262C34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A1C57-550D-4C13-80EF-381C9431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answerable non-refusal rate</a:t>
            </a:r>
          </a:p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no answerable case rejected in this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C39EF-8E9A-4590-B6E9-C0DE4836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Decision rule: low hybrid score + low vector similarity + limited lexical overlap + weak keyword evidence.</a:t>
            </a:r>
          </a:p>
        </p:txBody>
      </p:sp>
    </p:spTree>
    <p:extLst>
      <p:ext uri="{BB962C8B-B14F-4D97-AF65-F5344CB8AC3E}">
        <p14:creationId xmlns:p14="http://schemas.microsoft.com/office/powerpoint/2010/main" val="21183154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960D73-898F-413A-A443-3B5F883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LLM APIS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92F95-6BBE-4BB0-B2B2-BD8EEF3D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47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6CE4D-6477-4F9B-8BF2-EA7633C6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Generation providers remain replaceable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DE536-75D2-42BA-B3FE-7139389D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Offline mode keeps the project reproducible; remote models are explicit configuration, not hidden dependencies.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43E63-D0B9-4DB7-A40F-6310EFE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B6254-5BDE-4758-993D-D5119EE2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Offline extractive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FAEF3-9503-41B6-A32C-6A69044B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Deterministic baseline</a:t>
            </a:r>
          </a:p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No API key</a:t>
            </a:r>
          </a:p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Used for recorded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835B9-DF61-43A3-9C63-FE8E793A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F83C9-4E7D-4133-8CB5-A7275995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OpenAI Responses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EC11B-6FE1-4BC0-A0E8-AD2A6D7F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Configurable GPT-5.6 model</a:t>
            </a:r>
          </a:p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Environment-loaded key</a:t>
            </a:r>
          </a:p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Bounded output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58C28-427B-41E2-B782-39F61764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9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6365B-6375-4A3A-89E4-F8A88A3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Ollama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26738-57FB-4F96-9B6A-9DB38391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Local HTTP endpoint</a:t>
            </a:r>
          </a:p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Model selected by config</a:t>
            </a:r>
          </a:p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No cloud requirement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E720A-B2ED-4216-88E7-13064951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OpenAI SDK integration uses the Responses API; a live request needs OPENAI_API_KEY and remains untested here because no credential was provided.</a:t>
            </a:r>
          </a:p>
        </p:txBody>
      </p:sp>
    </p:spTree>
    <p:extLst>
      <p:ext uri="{BB962C8B-B14F-4D97-AF65-F5344CB8AC3E}">
        <p14:creationId xmlns:p14="http://schemas.microsoft.com/office/powerpoint/2010/main" val="1694576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08570F-128D-4A39-A288-E89F3090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95900-4EB8-4237-96C3-9BAD1E96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47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0068A-F004-457E-A2A7-F2696B5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 six-week engineering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85A37-A1D1-407A-BF9A-65A89656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Each phase leaves a demonstrable artifact rather than only a conceptual milestone.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981200" y="3400425"/>
            <a:ext cx="47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9E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F29B1-C549-440A-8D54-EA72A965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48342-7A4D-4618-8BD3-88E3F254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992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80FD5-CD3A-44F4-A6C8-3685931D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7A2FC-FE7B-43A5-A0B0-4DBA7660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scope + architecture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3733800" y="3400425"/>
            <a:ext cx="47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9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657F5-EC57-4BF3-825C-AA2F020C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57F14-52C6-4AA8-B77D-8755685B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992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DCED6-7EDE-4CB5-9F71-465861B8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148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63DE5-8620-4CB4-AAF6-F1A286D3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767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loaders + chunks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5486400" y="3400425"/>
            <a:ext cx="47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9E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DE6BB-8A7D-408E-A265-96F24262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77A91-C706-4312-AE92-F02C6974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992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3BE15-87CD-4D77-9F59-6B7C703D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148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E0972-13BC-457E-AEB1-BB84110D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hybrid baseline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7239000" y="3400425"/>
            <a:ext cx="47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9E5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BCB1E-9286-441F-B58D-38E3E0D6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FA733-D4C4-48A9-9738-6734C93C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992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DB701-F017-4672-9A89-AEFD51BB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33D3B-C63D-494A-8D81-A376979B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767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providers + UI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8991600" y="3400425"/>
            <a:ext cx="476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9E5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70189-C1F3-453E-9355-C4102010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B4C621-0F24-41A9-B873-551A420D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CCF5CA-7B95-4574-AAA6-9CEA0CDC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A9444D-99EC-4A31-A8F9-0C605BD5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tests + benchmark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7E959D-D8C7-481D-AC44-4523C479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480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98F2E5-2430-41AE-90C4-3173F1E4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0992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18916-15F9-4044-9BBB-F80C408F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50084E-E99E-440C-8C53-655CCB9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3"/>
                </a:solidFill>
                <a:latin typeface="Aptos"/>
                <a:ea typeface="Aptos"/>
                <a:cs typeface="Aptos"/>
              </a:rPr>
              <a:t>analysis + demo</a:t>
            </a:r>
          </a:p>
        </p:txBody>
      </p:sp>
    </p:spTree>
    <p:extLst>
      <p:ext uri="{BB962C8B-B14F-4D97-AF65-F5344CB8AC3E}">
        <p14:creationId xmlns:p14="http://schemas.microsoft.com/office/powerpoint/2010/main" val="655359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0BA1C-F33B-4370-BE97-78EFC991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the prototype demonstrates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30176-0A92-4274-B567-2837EEDA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134BA-916F-4530-B2D0-F90D5C1B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14525"/>
            <a:ext cx="859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 end-to-end RAG workflow that is locally runnable and inspectable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98544-0DBD-4554-960C-3D6AB69D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7202B-4F93-4AC0-92F1-32983EC7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9875"/>
            <a:ext cx="859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reproducible 41-case evaluation with retrieval ablations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50E42-1132-4567-805D-CD5EAEFD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37F93-412D-4A3B-989E-436B4AA0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944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clear path to API-backed generation once credentials and a held-out test set are 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9D85A-8482-41AA-9C1A-7FF6D6CD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FDDE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DDEB"/>
                </a:solidFill>
                <a:latin typeface="Aptos"/>
                <a:ea typeface="Aptos"/>
                <a:cs typeface="Aptos"/>
              </a:rPr>
              <a:t>Next: validate against held-out documents, add human claim-level review, and measure remote-provider cost and latency.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49A74-E31A-49B8-85B8-84896CA9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D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DEB"/>
                </a:solidFill>
                <a:latin typeface="Aptos"/>
                <a:ea typeface="Aptos"/>
                <a:cs typeface="Aptos"/>
              </a:rPr>
              <a:t>Advanced RAG and LLM API Assistant</a:t>
            </a:r>
          </a:p>
        </p:txBody>
      </p:sp>
    </p:spTree>
    <p:extLst>
      <p:ext uri="{BB962C8B-B14F-4D97-AF65-F5344CB8AC3E}">
        <p14:creationId xmlns:p14="http://schemas.microsoft.com/office/powerpoint/2010/main" val="623601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2026-07-11T22:21:26.1570000Z</dcterms:created>
  <dcterms:modified xsi:type="dcterms:W3CDTF">2026-07-11T22:21:26.1570000Z</dcterms:modified>
</coreProperties>
</file>